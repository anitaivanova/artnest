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084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Open by framing the project in one sentence: this is an AI Data Request Agent that lets non-technical users ask database questions in natural language. Explain that the slides are intentionally light on text, and that the detailed narration is in the presenter script document. Also state that the presentation reflects what is documented so far in the current project files, especially the URS and project requirement brief.
[Sources]
- URS Document Group Project.pdf
- AIDataRequestReq (1).pdf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Explain the scope first. The MVP accepts a natural language question, identifies the relevant dataset, retrieves the data, shows the answer, and logs the request. Then refer to the use case diagram on the right as the current visual summary from the URS. Emphasize that the core business use cases are asking a question, seeing which dataset was used, and viewing usage insights. If needed, mention that the diagram also includes account actions, but the main documented MVP focus remains the question-to-data flow.
[Sources]
- URS Document Group Project.pdf
- AIDataRequestReq (1).pdf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Walk left to right. The functional requirements start with user input, then interpretation through an AI model, then dataset selection and query generation, and finally retrieval, result presentation, and request logging. This is important because the requirements are not isolated features; together they form one complete operational chain. Mention that logging is part of the functional scope, which is useful later for usage insights and improvement.
[Sources]
- URS Document Group Project.pdf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Explain that these requirements define how good the system must be, not just what it must do. The key quality themes are speed, ease of use, security, maintainability, and scalability. Then connect this back to the project constraint: because this is an MVP, the team is prioritizing a demonstrable end-to-end workflow over perfect model accuracy. That helps justify simple design decisions in the early iterations.
[Sources]
- URS Document Group Project.pdf
- AIDataRequestReq (1).pdf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Be precise here: this slide is about documented progress so far, not a claim that every technical component is already built. The project has already defined the problem, scope, MVP objective, requirements, acceptance criteria, key deliverables, and the team collaboration rhythm. This is important because it means the project foundation is in place. The next iteration can therefore focus more on implementation instead of discovery.
[Sources]
- URS Document Group Project.pdf
- AIDataRequestReq (1).pdf
- Fontys ICT — Software Design &amp; Engineering.pdf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Close with a practical implementation view of the next iteration. The next step is to turn the documented workflow into a working MVP: create the simple interface, connect datasets, implement AI-based interpretation and dataset selection, execute queries, log requests, and generate initial insight reporting. End by reminding the audience that the goal of the next iteration is not perfection; it is a usable demonstration of the full flow that can be shown and discussed with stakeholders.
[Sources]
- AIDataRequestReq (1).pdf
- URS Document Group Project.pdf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02920" y="411480"/>
            <a:ext cx="1097280" cy="64008"/>
          </a:xfrm>
          <a:prstGeom prst="rect">
            <a:avLst/>
          </a:prstGeom>
          <a:solidFill>
            <a:srgbClr val="0F766E"/>
          </a:solidFill>
          <a:ln w="12700">
            <a:solidFill>
              <a:srgbClr val="0F766E">
                <a:alpha val="0"/>
              </a:srgbClr>
            </a:solidFill>
            <a:prstDash val="solid"/>
          </a:ln>
        </p:spPr>
        <p:txBody>
          <a:bodyPr/>
          <a:lstStyle/>
          <a:p>
            <a:endParaRPr lang="en-US"/>
          </a:p>
        </p:txBody>
      </p:sp>
      <p:sp>
        <p:nvSpPr>
          <p:cNvPr id="3" name="Text 1"/>
          <p:cNvSpPr/>
          <p:nvPr/>
        </p:nvSpPr>
        <p:spPr>
          <a:xfrm>
            <a:off x="594360" y="164592"/>
            <a:ext cx="2377440" cy="164592"/>
          </a:xfrm>
          <a:prstGeom prst="rect">
            <a:avLst/>
          </a:prstGeom>
          <a:noFill/>
          <a:ln/>
        </p:spPr>
        <p:txBody>
          <a:bodyPr wrap="square" lIns="0" tIns="0" rIns="0" bIns="0" rtlCol="0" anchor="ctr"/>
          <a:lstStyle/>
          <a:p>
            <a:pPr marL="0" indent="0">
              <a:buNone/>
            </a:pPr>
            <a:r>
              <a:rPr lang="en-US" sz="800" b="1" dirty="0">
                <a:solidFill>
                  <a:srgbClr val="0F766E"/>
                </a:solidFill>
                <a:latin typeface="Aptos" pitchFamily="34" charset="0"/>
                <a:ea typeface="Aptos" pitchFamily="34" charset="-122"/>
                <a:cs typeface="Aptos" pitchFamily="34" charset="-120"/>
              </a:rPr>
              <a:t>AI DATA REQUEST AGENT</a:t>
            </a:r>
            <a:endParaRPr lang="en-US" sz="800" dirty="0"/>
          </a:p>
        </p:txBody>
      </p:sp>
      <p:sp>
        <p:nvSpPr>
          <p:cNvPr id="4" name="Shape 2"/>
          <p:cNvSpPr/>
          <p:nvPr/>
        </p:nvSpPr>
        <p:spPr>
          <a:xfrm>
            <a:off x="594360" y="6400800"/>
            <a:ext cx="10972800" cy="0"/>
          </a:xfrm>
          <a:prstGeom prst="line">
            <a:avLst/>
          </a:prstGeom>
          <a:noFill/>
          <a:ln w="12700">
            <a:solidFill>
              <a:srgbClr val="CBD5E1"/>
            </a:solidFill>
            <a:prstDash val="solid"/>
          </a:ln>
        </p:spPr>
        <p:txBody>
          <a:bodyPr/>
          <a:lstStyle/>
          <a:p>
            <a:endParaRPr lang="en-US"/>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4360" y="1188720"/>
            <a:ext cx="7132320" cy="658368"/>
          </a:xfrm>
          <a:prstGeom prst="rect">
            <a:avLst/>
          </a:prstGeom>
          <a:noFill/>
          <a:ln/>
        </p:spPr>
        <p:txBody>
          <a:bodyPr wrap="square" lIns="0" tIns="0" rIns="0" bIns="0" rtlCol="0" anchor="ctr"/>
          <a:lstStyle/>
          <a:p>
            <a:pPr marL="0" indent="0">
              <a:buNone/>
            </a:pPr>
            <a:r>
              <a:rPr lang="en-US" sz="3400" b="1" dirty="0">
                <a:solidFill>
                  <a:srgbClr val="0F172A"/>
                </a:solidFill>
                <a:latin typeface="Aptos Display" pitchFamily="34" charset="0"/>
                <a:ea typeface="Aptos Display" pitchFamily="34" charset="-122"/>
                <a:cs typeface="Aptos Display" pitchFamily="34" charset="-120"/>
              </a:rPr>
              <a:t>AI Data Request Agent</a:t>
            </a:r>
            <a:endParaRPr lang="en-US" sz="3400" dirty="0"/>
          </a:p>
        </p:txBody>
      </p:sp>
      <p:sp>
        <p:nvSpPr>
          <p:cNvPr id="3" name="Text 1"/>
          <p:cNvSpPr/>
          <p:nvPr/>
        </p:nvSpPr>
        <p:spPr>
          <a:xfrm>
            <a:off x="621792" y="1965960"/>
            <a:ext cx="8138160" cy="822960"/>
          </a:xfrm>
          <a:prstGeom prst="rect">
            <a:avLst/>
          </a:prstGeom>
          <a:noFill/>
          <a:ln/>
        </p:spPr>
        <p:txBody>
          <a:bodyPr wrap="square" lIns="0" tIns="0" rIns="0" bIns="0" rtlCol="0" anchor="ctr"/>
          <a:lstStyle/>
          <a:p>
            <a:pPr marL="0" indent="0">
              <a:buNone/>
            </a:pPr>
            <a:endParaRPr lang="en-US" sz="1900" dirty="0">
              <a:solidFill>
                <a:srgbClr val="334155"/>
              </a:solidFill>
              <a:latin typeface="Aptos" pitchFamily="34" charset="0"/>
              <a:ea typeface="Aptos" pitchFamily="34" charset="-122"/>
              <a:cs typeface="Aptos" pitchFamily="34" charset="-120"/>
            </a:endParaRPr>
          </a:p>
          <a:p>
            <a:pPr marL="0" indent="0">
              <a:buNone/>
            </a:pPr>
            <a:r>
              <a:rPr lang="en-US" sz="1900" b="1" dirty="0">
                <a:solidFill>
                  <a:srgbClr val="334155"/>
                </a:solidFill>
                <a:latin typeface="Aptos" pitchFamily="34" charset="0"/>
                <a:ea typeface="Aptos" pitchFamily="34" charset="-122"/>
                <a:cs typeface="Aptos" pitchFamily="34" charset="-120"/>
              </a:rPr>
              <a:t>Code for Good</a:t>
            </a:r>
          </a:p>
          <a:p>
            <a:pPr marL="0" indent="0">
              <a:buNone/>
            </a:pPr>
            <a:endParaRPr lang="en-US" sz="1900" b="1" dirty="0">
              <a:solidFill>
                <a:srgbClr val="334155"/>
              </a:solidFill>
              <a:latin typeface="Aptos" pitchFamily="34" charset="0"/>
              <a:ea typeface="Aptos" pitchFamily="34" charset="-122"/>
              <a:cs typeface="Aptos" pitchFamily="34" charset="-120"/>
            </a:endParaRPr>
          </a:p>
          <a:p>
            <a:pPr marL="0" indent="0">
              <a:buNone/>
            </a:pPr>
            <a:r>
              <a:rPr lang="en-US" sz="1900" dirty="0">
                <a:solidFill>
                  <a:srgbClr val="334155"/>
                </a:solidFill>
                <a:latin typeface="Aptos" pitchFamily="34" charset="0"/>
                <a:ea typeface="Aptos" pitchFamily="34" charset="-122"/>
                <a:cs typeface="Aptos" pitchFamily="34" charset="-120"/>
              </a:rPr>
              <a:t>Functional requirements, non-functional requirements, scope, use cases, documented progress, and next iteration focus</a:t>
            </a:r>
            <a:endParaRPr lang="en-US" sz="1900" dirty="0"/>
          </a:p>
        </p:txBody>
      </p:sp>
      <p:sp>
        <p:nvSpPr>
          <p:cNvPr id="4" name="Text 2"/>
          <p:cNvSpPr/>
          <p:nvPr/>
        </p:nvSpPr>
        <p:spPr>
          <a:xfrm>
            <a:off x="621792" y="2971800"/>
            <a:ext cx="4480560" cy="256032"/>
          </a:xfrm>
          <a:prstGeom prst="rect">
            <a:avLst/>
          </a:prstGeom>
          <a:noFill/>
          <a:ln/>
        </p:spPr>
        <p:txBody>
          <a:bodyPr wrap="square" lIns="0" tIns="0" rIns="0" bIns="0" rtlCol="0" anchor="ctr"/>
          <a:lstStyle/>
          <a:p>
            <a:pPr marL="0" indent="0">
              <a:buNone/>
            </a:pPr>
            <a:endParaRPr lang="en-US" sz="1400" dirty="0"/>
          </a:p>
        </p:txBody>
      </p:sp>
      <p:sp>
        <p:nvSpPr>
          <p:cNvPr id="5" name="Text 3"/>
          <p:cNvSpPr/>
          <p:nvPr/>
        </p:nvSpPr>
        <p:spPr>
          <a:xfrm>
            <a:off x="621792" y="5806440"/>
            <a:ext cx="4389120" cy="219456"/>
          </a:xfrm>
          <a:prstGeom prst="rect">
            <a:avLst/>
          </a:prstGeom>
          <a:noFill/>
          <a:ln/>
        </p:spPr>
        <p:txBody>
          <a:bodyPr wrap="square" lIns="0" tIns="0" rIns="0" bIns="0" rtlCol="0" anchor="ctr"/>
          <a:lstStyle/>
          <a:p>
            <a:pPr marL="0" indent="0">
              <a:buNone/>
            </a:pPr>
            <a:endParaRPr lang="en-US" sz="1300" dirty="0"/>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658368"/>
            <a:ext cx="658368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Scope and primary use cases</a:t>
            </a:r>
            <a:endParaRPr lang="en-US" sz="2800" dirty="0"/>
          </a:p>
        </p:txBody>
      </p:sp>
      <p:sp>
        <p:nvSpPr>
          <p:cNvPr id="3" name="Text 1"/>
          <p:cNvSpPr/>
          <p:nvPr/>
        </p:nvSpPr>
        <p:spPr>
          <a:xfrm>
            <a:off x="612648" y="1216152"/>
            <a:ext cx="7863840" cy="329184"/>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The MVP is centered on a complete question-to-insight workflow.</a:t>
            </a:r>
            <a:endParaRPr lang="en-US" sz="1500" dirty="0"/>
          </a:p>
        </p:txBody>
      </p:sp>
      <p:sp>
        <p:nvSpPr>
          <p:cNvPr id="4" name="Text 2"/>
          <p:cNvSpPr/>
          <p:nvPr/>
        </p:nvSpPr>
        <p:spPr>
          <a:xfrm>
            <a:off x="658368" y="1783080"/>
            <a:ext cx="137160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SCOPE</a:t>
            </a:r>
            <a:endParaRPr lang="en-US" sz="900" dirty="0"/>
          </a:p>
        </p:txBody>
      </p:sp>
      <p:sp>
        <p:nvSpPr>
          <p:cNvPr id="5" name="Shape 3"/>
          <p:cNvSpPr/>
          <p:nvPr/>
        </p:nvSpPr>
        <p:spPr>
          <a:xfrm>
            <a:off x="713232" y="2185416"/>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6" name="Text 4"/>
          <p:cNvSpPr/>
          <p:nvPr/>
        </p:nvSpPr>
        <p:spPr>
          <a:xfrm>
            <a:off x="896112" y="2084832"/>
            <a:ext cx="4160520" cy="310896"/>
          </a:xfrm>
          <a:prstGeom prst="rect">
            <a:avLst/>
          </a:prstGeom>
          <a:noFill/>
          <a:ln/>
        </p:spPr>
        <p:txBody>
          <a:bodyPr wrap="square" lIns="0" tIns="0" rIns="0" bIns="0" rtlCol="0" anchor="ctr"/>
          <a:lstStyle/>
          <a:p>
            <a:pPr marL="0" indent="0">
              <a:buNone/>
            </a:pPr>
            <a:r>
              <a:rPr lang="en-US" sz="1800" dirty="0">
                <a:solidFill>
                  <a:srgbClr val="0F172A"/>
                </a:solidFill>
                <a:latin typeface="Aptos" pitchFamily="34" charset="0"/>
                <a:ea typeface="Aptos" pitchFamily="34" charset="-122"/>
                <a:cs typeface="Aptos" pitchFamily="34" charset="-120"/>
              </a:rPr>
              <a:t>Ask questions in natural language</a:t>
            </a:r>
            <a:endParaRPr lang="en-US" sz="1800" dirty="0"/>
          </a:p>
        </p:txBody>
      </p:sp>
      <p:sp>
        <p:nvSpPr>
          <p:cNvPr id="7" name="Shape 5"/>
          <p:cNvSpPr/>
          <p:nvPr/>
        </p:nvSpPr>
        <p:spPr>
          <a:xfrm>
            <a:off x="713232" y="2697480"/>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8" name="Text 6"/>
          <p:cNvSpPr/>
          <p:nvPr/>
        </p:nvSpPr>
        <p:spPr>
          <a:xfrm>
            <a:off x="896112" y="2596896"/>
            <a:ext cx="4160520" cy="310896"/>
          </a:xfrm>
          <a:prstGeom prst="rect">
            <a:avLst/>
          </a:prstGeom>
          <a:noFill/>
          <a:ln/>
        </p:spPr>
        <p:txBody>
          <a:bodyPr wrap="square" lIns="0" tIns="0" rIns="0" bIns="0" rtlCol="0" anchor="ctr"/>
          <a:lstStyle/>
          <a:p>
            <a:pPr marL="0" indent="0">
              <a:buNone/>
            </a:pPr>
            <a:r>
              <a:rPr lang="en-US" sz="1800" dirty="0">
                <a:solidFill>
                  <a:srgbClr val="0F172A"/>
                </a:solidFill>
                <a:latin typeface="Aptos" pitchFamily="34" charset="0"/>
                <a:ea typeface="Aptos" pitchFamily="34" charset="-122"/>
                <a:cs typeface="Aptos" pitchFamily="34" charset="-120"/>
              </a:rPr>
              <a:t>Select the most relevant dataset</a:t>
            </a:r>
            <a:endParaRPr lang="en-US" sz="1800" dirty="0"/>
          </a:p>
        </p:txBody>
      </p:sp>
      <p:sp>
        <p:nvSpPr>
          <p:cNvPr id="9" name="Shape 7"/>
          <p:cNvSpPr/>
          <p:nvPr/>
        </p:nvSpPr>
        <p:spPr>
          <a:xfrm>
            <a:off x="713232" y="3209544"/>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10" name="Text 8"/>
          <p:cNvSpPr/>
          <p:nvPr/>
        </p:nvSpPr>
        <p:spPr>
          <a:xfrm>
            <a:off x="896112" y="3108960"/>
            <a:ext cx="4160520" cy="310896"/>
          </a:xfrm>
          <a:prstGeom prst="rect">
            <a:avLst/>
          </a:prstGeom>
          <a:noFill/>
          <a:ln/>
        </p:spPr>
        <p:txBody>
          <a:bodyPr wrap="square" lIns="0" tIns="0" rIns="0" bIns="0" rtlCol="0" anchor="ctr"/>
          <a:lstStyle/>
          <a:p>
            <a:pPr marL="0" indent="0">
              <a:buNone/>
            </a:pPr>
            <a:r>
              <a:rPr lang="en-US" sz="1800" dirty="0">
                <a:solidFill>
                  <a:srgbClr val="0F172A"/>
                </a:solidFill>
                <a:latin typeface="Aptos" pitchFamily="34" charset="0"/>
                <a:ea typeface="Aptos" pitchFamily="34" charset="-122"/>
                <a:cs typeface="Aptos" pitchFamily="34" charset="-120"/>
              </a:rPr>
              <a:t>Retrieve structured data</a:t>
            </a:r>
            <a:endParaRPr lang="en-US" sz="1800" dirty="0"/>
          </a:p>
        </p:txBody>
      </p:sp>
      <p:sp>
        <p:nvSpPr>
          <p:cNvPr id="11" name="Shape 9"/>
          <p:cNvSpPr/>
          <p:nvPr/>
        </p:nvSpPr>
        <p:spPr>
          <a:xfrm>
            <a:off x="713232" y="3721608"/>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12" name="Text 10"/>
          <p:cNvSpPr/>
          <p:nvPr/>
        </p:nvSpPr>
        <p:spPr>
          <a:xfrm>
            <a:off x="896112" y="3621024"/>
            <a:ext cx="4160520" cy="310896"/>
          </a:xfrm>
          <a:prstGeom prst="rect">
            <a:avLst/>
          </a:prstGeom>
          <a:noFill/>
          <a:ln/>
        </p:spPr>
        <p:txBody>
          <a:bodyPr wrap="square" lIns="0" tIns="0" rIns="0" bIns="0" rtlCol="0" anchor="ctr"/>
          <a:lstStyle/>
          <a:p>
            <a:pPr marL="0" indent="0">
              <a:buNone/>
            </a:pPr>
            <a:r>
              <a:rPr lang="en-US" sz="1800" dirty="0">
                <a:solidFill>
                  <a:srgbClr val="0F172A"/>
                </a:solidFill>
                <a:latin typeface="Aptos" pitchFamily="34" charset="0"/>
                <a:ea typeface="Aptos" pitchFamily="34" charset="-122"/>
                <a:cs typeface="Aptos" pitchFamily="34" charset="-120"/>
              </a:rPr>
              <a:t>Present results clearly</a:t>
            </a:r>
            <a:endParaRPr lang="en-US" sz="1800" dirty="0"/>
          </a:p>
        </p:txBody>
      </p:sp>
      <p:sp>
        <p:nvSpPr>
          <p:cNvPr id="13" name="Shape 11"/>
          <p:cNvSpPr/>
          <p:nvPr/>
        </p:nvSpPr>
        <p:spPr>
          <a:xfrm>
            <a:off x="713232" y="4233672"/>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14" name="Text 12"/>
          <p:cNvSpPr/>
          <p:nvPr/>
        </p:nvSpPr>
        <p:spPr>
          <a:xfrm>
            <a:off x="896112" y="4133088"/>
            <a:ext cx="4160520" cy="310896"/>
          </a:xfrm>
          <a:prstGeom prst="rect">
            <a:avLst/>
          </a:prstGeom>
          <a:noFill/>
          <a:ln/>
        </p:spPr>
        <p:txBody>
          <a:bodyPr wrap="square" lIns="0" tIns="0" rIns="0" bIns="0" rtlCol="0" anchor="ctr"/>
          <a:lstStyle/>
          <a:p>
            <a:pPr marL="0" indent="0">
              <a:buNone/>
            </a:pPr>
            <a:r>
              <a:rPr lang="en-US" sz="1800" dirty="0">
                <a:solidFill>
                  <a:srgbClr val="0F172A"/>
                </a:solidFill>
                <a:latin typeface="Aptos" pitchFamily="34" charset="0"/>
                <a:ea typeface="Aptos" pitchFamily="34" charset="-122"/>
                <a:cs typeface="Aptos" pitchFamily="34" charset="-120"/>
              </a:rPr>
              <a:t>Log requests for analysis</a:t>
            </a:r>
            <a:endParaRPr lang="en-US" sz="1800" dirty="0"/>
          </a:p>
        </p:txBody>
      </p:sp>
      <p:sp>
        <p:nvSpPr>
          <p:cNvPr id="15" name="Text 13"/>
          <p:cNvSpPr/>
          <p:nvPr/>
        </p:nvSpPr>
        <p:spPr>
          <a:xfrm>
            <a:off x="6355080" y="1783080"/>
            <a:ext cx="201168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CORE USE CASES</a:t>
            </a:r>
            <a:endParaRPr lang="en-US" sz="900" dirty="0"/>
          </a:p>
        </p:txBody>
      </p:sp>
      <p:sp>
        <p:nvSpPr>
          <p:cNvPr id="16" name="Shape 14"/>
          <p:cNvSpPr/>
          <p:nvPr/>
        </p:nvSpPr>
        <p:spPr>
          <a:xfrm>
            <a:off x="6419088" y="2185416"/>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17" name="Text 15"/>
          <p:cNvSpPr/>
          <p:nvPr/>
        </p:nvSpPr>
        <p:spPr>
          <a:xfrm>
            <a:off x="6601968" y="2084832"/>
            <a:ext cx="4297680" cy="310896"/>
          </a:xfrm>
          <a:prstGeom prst="rect">
            <a:avLst/>
          </a:prstGeom>
          <a:noFill/>
          <a:ln/>
        </p:spPr>
        <p:txBody>
          <a:bodyPr wrap="square" lIns="0" tIns="0" rIns="0" bIns="0" rtlCol="0" anchor="ctr"/>
          <a:lstStyle/>
          <a:p>
            <a:pPr marL="0" indent="0">
              <a:buNone/>
            </a:pPr>
            <a:r>
              <a:rPr lang="en-US" sz="1750" dirty="0">
                <a:solidFill>
                  <a:srgbClr val="0F172A"/>
                </a:solidFill>
                <a:latin typeface="Aptos" pitchFamily="34" charset="0"/>
                <a:ea typeface="Aptos" pitchFamily="34" charset="-122"/>
                <a:cs typeface="Aptos" pitchFamily="34" charset="-120"/>
              </a:rPr>
              <a:t>Input a natural language question</a:t>
            </a:r>
            <a:endParaRPr lang="en-US" sz="1750" dirty="0"/>
          </a:p>
        </p:txBody>
      </p:sp>
      <p:sp>
        <p:nvSpPr>
          <p:cNvPr id="18" name="Shape 16"/>
          <p:cNvSpPr/>
          <p:nvPr/>
        </p:nvSpPr>
        <p:spPr>
          <a:xfrm>
            <a:off x="6419088" y="2697480"/>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19" name="Text 17"/>
          <p:cNvSpPr/>
          <p:nvPr/>
        </p:nvSpPr>
        <p:spPr>
          <a:xfrm>
            <a:off x="6601968" y="2596896"/>
            <a:ext cx="4297680" cy="310896"/>
          </a:xfrm>
          <a:prstGeom prst="rect">
            <a:avLst/>
          </a:prstGeom>
          <a:noFill/>
          <a:ln/>
        </p:spPr>
        <p:txBody>
          <a:bodyPr wrap="square" lIns="0" tIns="0" rIns="0" bIns="0" rtlCol="0" anchor="ctr"/>
          <a:lstStyle/>
          <a:p>
            <a:pPr marL="0" indent="0">
              <a:buNone/>
            </a:pPr>
            <a:r>
              <a:rPr lang="en-US" sz="1750" dirty="0">
                <a:solidFill>
                  <a:srgbClr val="0F172A"/>
                </a:solidFill>
                <a:latin typeface="Aptos" pitchFamily="34" charset="0"/>
                <a:ea typeface="Aptos" pitchFamily="34" charset="-122"/>
                <a:cs typeface="Aptos" pitchFamily="34" charset="-120"/>
              </a:rPr>
              <a:t>See which dataset is used</a:t>
            </a:r>
            <a:endParaRPr lang="en-US" sz="1750" dirty="0"/>
          </a:p>
        </p:txBody>
      </p:sp>
      <p:sp>
        <p:nvSpPr>
          <p:cNvPr id="20" name="Shape 18"/>
          <p:cNvSpPr/>
          <p:nvPr/>
        </p:nvSpPr>
        <p:spPr>
          <a:xfrm>
            <a:off x="6419088" y="3209544"/>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21" name="Text 19"/>
          <p:cNvSpPr/>
          <p:nvPr/>
        </p:nvSpPr>
        <p:spPr>
          <a:xfrm>
            <a:off x="6601968" y="3108960"/>
            <a:ext cx="4297680" cy="310896"/>
          </a:xfrm>
          <a:prstGeom prst="rect">
            <a:avLst/>
          </a:prstGeom>
          <a:noFill/>
          <a:ln/>
        </p:spPr>
        <p:txBody>
          <a:bodyPr wrap="square" lIns="0" tIns="0" rIns="0" bIns="0" rtlCol="0" anchor="ctr"/>
          <a:lstStyle/>
          <a:p>
            <a:pPr marL="0" indent="0">
              <a:buNone/>
            </a:pPr>
            <a:r>
              <a:rPr lang="en-US" sz="1750" dirty="0">
                <a:solidFill>
                  <a:srgbClr val="0F172A"/>
                </a:solidFill>
                <a:latin typeface="Aptos" pitchFamily="34" charset="0"/>
                <a:ea typeface="Aptos" pitchFamily="34" charset="-122"/>
                <a:cs typeface="Aptos" pitchFamily="34" charset="-120"/>
              </a:rPr>
              <a:t>View the returned result</a:t>
            </a:r>
            <a:endParaRPr lang="en-US" sz="1750" dirty="0"/>
          </a:p>
        </p:txBody>
      </p:sp>
      <p:sp>
        <p:nvSpPr>
          <p:cNvPr id="22" name="Shape 20"/>
          <p:cNvSpPr/>
          <p:nvPr/>
        </p:nvSpPr>
        <p:spPr>
          <a:xfrm>
            <a:off x="6419088" y="3721608"/>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23" name="Text 21"/>
          <p:cNvSpPr/>
          <p:nvPr/>
        </p:nvSpPr>
        <p:spPr>
          <a:xfrm>
            <a:off x="6601968" y="3621024"/>
            <a:ext cx="4297680" cy="310896"/>
          </a:xfrm>
          <a:prstGeom prst="rect">
            <a:avLst/>
          </a:prstGeom>
          <a:noFill/>
          <a:ln/>
        </p:spPr>
        <p:txBody>
          <a:bodyPr wrap="square" lIns="0" tIns="0" rIns="0" bIns="0" rtlCol="0" anchor="ctr"/>
          <a:lstStyle/>
          <a:p>
            <a:pPr marL="0" indent="0">
              <a:buNone/>
            </a:pPr>
            <a:r>
              <a:rPr lang="en-US" sz="1750" dirty="0">
                <a:solidFill>
                  <a:srgbClr val="0F172A"/>
                </a:solidFill>
                <a:latin typeface="Aptos" pitchFamily="34" charset="0"/>
                <a:ea typeface="Aptos" pitchFamily="34" charset="-122"/>
                <a:cs typeface="Aptos" pitchFamily="34" charset="-120"/>
              </a:rPr>
              <a:t>View usage insight</a:t>
            </a:r>
            <a:endParaRPr lang="en-US" sz="1750" dirty="0"/>
          </a:p>
        </p:txBody>
      </p:sp>
      <p:sp>
        <p:nvSpPr>
          <p:cNvPr id="24" name="Shape 22"/>
          <p:cNvSpPr/>
          <p:nvPr/>
        </p:nvSpPr>
        <p:spPr>
          <a:xfrm>
            <a:off x="6419088" y="4233672"/>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25" name="Text 23"/>
          <p:cNvSpPr/>
          <p:nvPr/>
        </p:nvSpPr>
        <p:spPr>
          <a:xfrm>
            <a:off x="6601968" y="4133088"/>
            <a:ext cx="4297680" cy="310896"/>
          </a:xfrm>
          <a:prstGeom prst="rect">
            <a:avLst/>
          </a:prstGeom>
          <a:noFill/>
          <a:ln/>
        </p:spPr>
        <p:txBody>
          <a:bodyPr wrap="square" lIns="0" tIns="0" rIns="0" bIns="0" rtlCol="0" anchor="ctr"/>
          <a:lstStyle/>
          <a:p>
            <a:pPr marL="0" indent="0">
              <a:buNone/>
            </a:pPr>
            <a:r>
              <a:rPr lang="en-US" sz="1750" dirty="0">
                <a:solidFill>
                  <a:srgbClr val="0F172A"/>
                </a:solidFill>
                <a:latin typeface="Aptos" pitchFamily="34" charset="0"/>
                <a:ea typeface="Aptos" pitchFamily="34" charset="-122"/>
                <a:cs typeface="Aptos" pitchFamily="34" charset="-120"/>
              </a:rPr>
              <a:t>Handle basic account actions</a:t>
            </a:r>
            <a:endParaRPr lang="en-US" sz="1750" dirty="0"/>
          </a:p>
        </p:txBody>
      </p:sp>
      <p:sp>
        <p:nvSpPr>
          <p:cNvPr id="26" name="Text 24"/>
          <p:cNvSpPr/>
          <p:nvPr/>
        </p:nvSpPr>
        <p:spPr>
          <a:xfrm>
            <a:off x="6419088" y="5029200"/>
            <a:ext cx="4572000" cy="640080"/>
          </a:xfrm>
          <a:prstGeom prst="rect">
            <a:avLst/>
          </a:prstGeom>
          <a:noFill/>
          <a:ln/>
        </p:spPr>
        <p:txBody>
          <a:bodyPr wrap="square" lIns="0" tIns="0" rIns="0" bIns="0" rtlCol="0" anchor="ctr"/>
          <a:lstStyle/>
          <a:p>
            <a:pPr marL="0" indent="0">
              <a:buNone/>
            </a:pPr>
            <a:r>
              <a:rPr lang="en-US" sz="1400" i="1" dirty="0">
                <a:solidFill>
                  <a:srgbClr val="64748B"/>
                </a:solidFill>
                <a:latin typeface="Aptos" pitchFamily="34" charset="0"/>
                <a:ea typeface="Aptos" pitchFamily="34" charset="-122"/>
                <a:cs typeface="Aptos" pitchFamily="34" charset="-120"/>
              </a:rPr>
              <a:t>Examples shown in the URS diagram include login, logout, and forgot password in addition to the main query flow.</a:t>
            </a:r>
            <a:endParaRPr lang="en-US" sz="1400" dirty="0"/>
          </a:p>
        </p:txBody>
      </p:sp>
      <p:sp>
        <p:nvSpPr>
          <p:cNvPr id="27"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658368"/>
            <a:ext cx="658368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Functional requirements</a:t>
            </a:r>
            <a:endParaRPr lang="en-US" sz="2800" dirty="0"/>
          </a:p>
        </p:txBody>
      </p:sp>
      <p:sp>
        <p:nvSpPr>
          <p:cNvPr id="3" name="Text 1"/>
          <p:cNvSpPr/>
          <p:nvPr/>
        </p:nvSpPr>
        <p:spPr>
          <a:xfrm>
            <a:off x="612648" y="1216152"/>
            <a:ext cx="7863840" cy="329184"/>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What the system must do from input to outcome.</a:t>
            </a:r>
            <a:endParaRPr lang="en-US" sz="1500" dirty="0"/>
          </a:p>
        </p:txBody>
      </p:sp>
      <p:sp>
        <p:nvSpPr>
          <p:cNvPr id="4" name="Text 2"/>
          <p:cNvSpPr/>
          <p:nvPr/>
        </p:nvSpPr>
        <p:spPr>
          <a:xfrm>
            <a:off x="713232" y="2331720"/>
            <a:ext cx="1691640" cy="292608"/>
          </a:xfrm>
          <a:prstGeom prst="rect">
            <a:avLst/>
          </a:prstGeom>
          <a:noFill/>
          <a:ln/>
        </p:spPr>
        <p:txBody>
          <a:bodyPr wrap="square" lIns="0" tIns="0" rIns="0" bIns="0" rtlCol="0" anchor="ctr"/>
          <a:lstStyle/>
          <a:p>
            <a:pPr marL="0" indent="0" algn="ctr">
              <a:buNone/>
            </a:pPr>
            <a:r>
              <a:rPr lang="en-US" sz="2000" b="1" dirty="0">
                <a:solidFill>
                  <a:srgbClr val="0F172A"/>
                </a:solidFill>
                <a:latin typeface="Aptos Display" pitchFamily="34" charset="0"/>
                <a:ea typeface="Aptos Display" pitchFamily="34" charset="-122"/>
                <a:cs typeface="Aptos Display" pitchFamily="34" charset="-120"/>
              </a:rPr>
              <a:t>1. Input</a:t>
            </a:r>
            <a:endParaRPr lang="en-US" sz="2000" dirty="0"/>
          </a:p>
        </p:txBody>
      </p:sp>
      <p:sp>
        <p:nvSpPr>
          <p:cNvPr id="5" name="Text 3"/>
          <p:cNvSpPr/>
          <p:nvPr/>
        </p:nvSpPr>
        <p:spPr>
          <a:xfrm>
            <a:off x="731520" y="2743200"/>
            <a:ext cx="1664208" cy="749808"/>
          </a:xfrm>
          <a:prstGeom prst="rect">
            <a:avLst/>
          </a:prstGeom>
          <a:noFill/>
          <a:ln/>
        </p:spPr>
        <p:txBody>
          <a:bodyPr wrap="square" lIns="0" tIns="0" rIns="0" bIns="0" rtlCol="0" anchor="ctr"/>
          <a:lstStyle/>
          <a:p>
            <a:pPr marL="0" indent="0" algn="ctr">
              <a:buNone/>
            </a:pPr>
            <a:r>
              <a:rPr lang="en-US" sz="1500" dirty="0">
                <a:solidFill>
                  <a:srgbClr val="334155"/>
                </a:solidFill>
                <a:latin typeface="Aptos" pitchFamily="34" charset="0"/>
                <a:ea typeface="Aptos" pitchFamily="34" charset="-122"/>
                <a:cs typeface="Aptos" pitchFamily="34" charset="-120"/>
              </a:rPr>
              <a:t>Accept a natural language question</a:t>
            </a:r>
            <a:endParaRPr lang="en-US" sz="1500" dirty="0"/>
          </a:p>
        </p:txBody>
      </p:sp>
      <p:sp>
        <p:nvSpPr>
          <p:cNvPr id="6" name="Text 4"/>
          <p:cNvSpPr/>
          <p:nvPr/>
        </p:nvSpPr>
        <p:spPr>
          <a:xfrm>
            <a:off x="2468880" y="2743200"/>
            <a:ext cx="228600" cy="228600"/>
          </a:xfrm>
          <a:prstGeom prst="rect">
            <a:avLst/>
          </a:prstGeom>
          <a:noFill/>
          <a:ln/>
        </p:spPr>
        <p:txBody>
          <a:bodyPr wrap="square" lIns="0" tIns="0" rIns="0" bIns="0" rtlCol="0" anchor="ctr"/>
          <a:lstStyle/>
          <a:p>
            <a:pPr marL="0" indent="0" algn="ctr">
              <a:buNone/>
            </a:pPr>
            <a:r>
              <a:rPr lang="en-US" sz="2200" b="1" dirty="0">
                <a:solidFill>
                  <a:srgbClr val="0F766E"/>
                </a:solidFill>
                <a:latin typeface="Aptos Display" pitchFamily="34" charset="0"/>
                <a:ea typeface="Aptos Display" pitchFamily="34" charset="-122"/>
                <a:cs typeface="Aptos Display" pitchFamily="34" charset="-120"/>
              </a:rPr>
              <a:t>→</a:t>
            </a:r>
            <a:endParaRPr lang="en-US" sz="2200" dirty="0"/>
          </a:p>
        </p:txBody>
      </p:sp>
      <p:sp>
        <p:nvSpPr>
          <p:cNvPr id="7" name="Text 5"/>
          <p:cNvSpPr/>
          <p:nvPr/>
        </p:nvSpPr>
        <p:spPr>
          <a:xfrm>
            <a:off x="2743200" y="2331720"/>
            <a:ext cx="1691640" cy="292608"/>
          </a:xfrm>
          <a:prstGeom prst="rect">
            <a:avLst/>
          </a:prstGeom>
          <a:noFill/>
          <a:ln/>
        </p:spPr>
        <p:txBody>
          <a:bodyPr wrap="square" lIns="0" tIns="0" rIns="0" bIns="0" rtlCol="0" anchor="ctr"/>
          <a:lstStyle/>
          <a:p>
            <a:pPr marL="0" indent="0" algn="ctr">
              <a:buNone/>
            </a:pPr>
            <a:r>
              <a:rPr lang="en-US" sz="2000" b="1" dirty="0">
                <a:solidFill>
                  <a:srgbClr val="0F172A"/>
                </a:solidFill>
                <a:latin typeface="Aptos Display" pitchFamily="34" charset="0"/>
                <a:ea typeface="Aptos Display" pitchFamily="34" charset="-122"/>
                <a:cs typeface="Aptos Display" pitchFamily="34" charset="-120"/>
              </a:rPr>
              <a:t>2. Interpret</a:t>
            </a:r>
            <a:endParaRPr lang="en-US" sz="2000" dirty="0"/>
          </a:p>
        </p:txBody>
      </p:sp>
      <p:sp>
        <p:nvSpPr>
          <p:cNvPr id="8" name="Text 6"/>
          <p:cNvSpPr/>
          <p:nvPr/>
        </p:nvSpPr>
        <p:spPr>
          <a:xfrm>
            <a:off x="2761488" y="2743200"/>
            <a:ext cx="1664208" cy="749808"/>
          </a:xfrm>
          <a:prstGeom prst="rect">
            <a:avLst/>
          </a:prstGeom>
          <a:noFill/>
          <a:ln/>
        </p:spPr>
        <p:txBody>
          <a:bodyPr wrap="square" lIns="0" tIns="0" rIns="0" bIns="0" rtlCol="0" anchor="ctr"/>
          <a:lstStyle/>
          <a:p>
            <a:pPr marL="0" indent="0" algn="ctr">
              <a:buNone/>
            </a:pPr>
            <a:r>
              <a:rPr lang="en-US" sz="1500" dirty="0">
                <a:solidFill>
                  <a:srgbClr val="334155"/>
                </a:solidFill>
                <a:latin typeface="Aptos" pitchFamily="34" charset="0"/>
                <a:ea typeface="Aptos" pitchFamily="34" charset="-122"/>
                <a:cs typeface="Aptos" pitchFamily="34" charset="-120"/>
              </a:rPr>
              <a:t>Use an AI model to understand it</a:t>
            </a:r>
            <a:endParaRPr lang="en-US" sz="1500" dirty="0"/>
          </a:p>
        </p:txBody>
      </p:sp>
      <p:sp>
        <p:nvSpPr>
          <p:cNvPr id="9" name="Text 7"/>
          <p:cNvSpPr/>
          <p:nvPr/>
        </p:nvSpPr>
        <p:spPr>
          <a:xfrm>
            <a:off x="4498848" y="2743200"/>
            <a:ext cx="228600" cy="228600"/>
          </a:xfrm>
          <a:prstGeom prst="rect">
            <a:avLst/>
          </a:prstGeom>
          <a:noFill/>
          <a:ln/>
        </p:spPr>
        <p:txBody>
          <a:bodyPr wrap="square" lIns="0" tIns="0" rIns="0" bIns="0" rtlCol="0" anchor="ctr"/>
          <a:lstStyle/>
          <a:p>
            <a:pPr marL="0" indent="0" algn="ctr">
              <a:buNone/>
            </a:pPr>
            <a:r>
              <a:rPr lang="en-US" sz="2200" b="1" dirty="0">
                <a:solidFill>
                  <a:srgbClr val="0F766E"/>
                </a:solidFill>
                <a:latin typeface="Aptos Display" pitchFamily="34" charset="0"/>
                <a:ea typeface="Aptos Display" pitchFamily="34" charset="-122"/>
                <a:cs typeface="Aptos Display" pitchFamily="34" charset="-120"/>
              </a:rPr>
              <a:t>→</a:t>
            </a:r>
            <a:endParaRPr lang="en-US" sz="2200" dirty="0"/>
          </a:p>
        </p:txBody>
      </p:sp>
      <p:sp>
        <p:nvSpPr>
          <p:cNvPr id="10" name="Text 8"/>
          <p:cNvSpPr/>
          <p:nvPr/>
        </p:nvSpPr>
        <p:spPr>
          <a:xfrm>
            <a:off x="4773168" y="2331720"/>
            <a:ext cx="1691640" cy="292608"/>
          </a:xfrm>
          <a:prstGeom prst="rect">
            <a:avLst/>
          </a:prstGeom>
          <a:noFill/>
          <a:ln/>
        </p:spPr>
        <p:txBody>
          <a:bodyPr wrap="square" lIns="0" tIns="0" rIns="0" bIns="0" rtlCol="0" anchor="ctr"/>
          <a:lstStyle/>
          <a:p>
            <a:pPr marL="0" indent="0" algn="ctr">
              <a:buNone/>
            </a:pPr>
            <a:r>
              <a:rPr lang="en-US" sz="2000" b="1" dirty="0">
                <a:solidFill>
                  <a:srgbClr val="0F172A"/>
                </a:solidFill>
                <a:latin typeface="Aptos Display" pitchFamily="34" charset="0"/>
                <a:ea typeface="Aptos Display" pitchFamily="34" charset="-122"/>
                <a:cs typeface="Aptos Display" pitchFamily="34" charset="-120"/>
              </a:rPr>
              <a:t>3. Retrieve</a:t>
            </a:r>
            <a:endParaRPr lang="en-US" sz="2000" dirty="0"/>
          </a:p>
        </p:txBody>
      </p:sp>
      <p:sp>
        <p:nvSpPr>
          <p:cNvPr id="11" name="Text 9"/>
          <p:cNvSpPr/>
          <p:nvPr/>
        </p:nvSpPr>
        <p:spPr>
          <a:xfrm>
            <a:off x="4791456" y="2743200"/>
            <a:ext cx="1664208" cy="749808"/>
          </a:xfrm>
          <a:prstGeom prst="rect">
            <a:avLst/>
          </a:prstGeom>
          <a:noFill/>
          <a:ln/>
        </p:spPr>
        <p:txBody>
          <a:bodyPr wrap="square" lIns="0" tIns="0" rIns="0" bIns="0" rtlCol="0" anchor="ctr"/>
          <a:lstStyle/>
          <a:p>
            <a:pPr marL="0" indent="0" algn="ctr">
              <a:buNone/>
            </a:pPr>
            <a:r>
              <a:rPr lang="en-US" sz="1500" dirty="0">
                <a:solidFill>
                  <a:srgbClr val="334155"/>
                </a:solidFill>
                <a:latin typeface="Aptos" pitchFamily="34" charset="0"/>
                <a:ea typeface="Aptos" pitchFamily="34" charset="-122"/>
                <a:cs typeface="Aptos" pitchFamily="34" charset="-120"/>
              </a:rPr>
              <a:t>Choose the dataset and build the query</a:t>
            </a:r>
            <a:endParaRPr lang="en-US" sz="1500" dirty="0"/>
          </a:p>
        </p:txBody>
      </p:sp>
      <p:sp>
        <p:nvSpPr>
          <p:cNvPr id="12" name="Text 10"/>
          <p:cNvSpPr/>
          <p:nvPr/>
        </p:nvSpPr>
        <p:spPr>
          <a:xfrm>
            <a:off x="6528816" y="2743200"/>
            <a:ext cx="228600" cy="228600"/>
          </a:xfrm>
          <a:prstGeom prst="rect">
            <a:avLst/>
          </a:prstGeom>
          <a:noFill/>
          <a:ln/>
        </p:spPr>
        <p:txBody>
          <a:bodyPr wrap="square" lIns="0" tIns="0" rIns="0" bIns="0" rtlCol="0" anchor="ctr"/>
          <a:lstStyle/>
          <a:p>
            <a:pPr marL="0" indent="0" algn="ctr">
              <a:buNone/>
            </a:pPr>
            <a:r>
              <a:rPr lang="en-US" sz="2200" b="1" dirty="0">
                <a:solidFill>
                  <a:srgbClr val="0F766E"/>
                </a:solidFill>
                <a:latin typeface="Aptos Display" pitchFamily="34" charset="0"/>
                <a:ea typeface="Aptos Display" pitchFamily="34" charset="-122"/>
                <a:cs typeface="Aptos Display" pitchFamily="34" charset="-120"/>
              </a:rPr>
              <a:t>→</a:t>
            </a:r>
            <a:endParaRPr lang="en-US" sz="2200" dirty="0"/>
          </a:p>
        </p:txBody>
      </p:sp>
      <p:sp>
        <p:nvSpPr>
          <p:cNvPr id="13" name="Text 11"/>
          <p:cNvSpPr/>
          <p:nvPr/>
        </p:nvSpPr>
        <p:spPr>
          <a:xfrm>
            <a:off x="6803136" y="2331720"/>
            <a:ext cx="1691640" cy="292608"/>
          </a:xfrm>
          <a:prstGeom prst="rect">
            <a:avLst/>
          </a:prstGeom>
          <a:noFill/>
          <a:ln/>
        </p:spPr>
        <p:txBody>
          <a:bodyPr wrap="square" lIns="0" tIns="0" rIns="0" bIns="0" rtlCol="0" anchor="ctr"/>
          <a:lstStyle/>
          <a:p>
            <a:pPr marL="0" indent="0" algn="ctr">
              <a:buNone/>
            </a:pPr>
            <a:r>
              <a:rPr lang="en-US" sz="2000" b="1" dirty="0">
                <a:solidFill>
                  <a:srgbClr val="0F172A"/>
                </a:solidFill>
                <a:latin typeface="Aptos Display" pitchFamily="34" charset="0"/>
                <a:ea typeface="Aptos Display" pitchFamily="34" charset="-122"/>
                <a:cs typeface="Aptos Display" pitchFamily="34" charset="-120"/>
              </a:rPr>
              <a:t>4. Respond</a:t>
            </a:r>
            <a:endParaRPr lang="en-US" sz="2000" dirty="0"/>
          </a:p>
        </p:txBody>
      </p:sp>
      <p:sp>
        <p:nvSpPr>
          <p:cNvPr id="14" name="Text 12"/>
          <p:cNvSpPr/>
          <p:nvPr/>
        </p:nvSpPr>
        <p:spPr>
          <a:xfrm>
            <a:off x="6821424" y="2743200"/>
            <a:ext cx="1664208" cy="749808"/>
          </a:xfrm>
          <a:prstGeom prst="rect">
            <a:avLst/>
          </a:prstGeom>
          <a:noFill/>
          <a:ln/>
        </p:spPr>
        <p:txBody>
          <a:bodyPr wrap="square" lIns="0" tIns="0" rIns="0" bIns="0" rtlCol="0" anchor="ctr"/>
          <a:lstStyle/>
          <a:p>
            <a:pPr marL="0" indent="0" algn="ctr">
              <a:buNone/>
            </a:pPr>
            <a:r>
              <a:rPr lang="en-US" sz="1500" dirty="0">
                <a:solidFill>
                  <a:srgbClr val="334155"/>
                </a:solidFill>
                <a:latin typeface="Aptos" pitchFamily="34" charset="0"/>
                <a:ea typeface="Aptos" pitchFamily="34" charset="-122"/>
                <a:cs typeface="Aptos" pitchFamily="34" charset="-120"/>
              </a:rPr>
              <a:t>Fetch data, show results, and log the outcome</a:t>
            </a:r>
            <a:endParaRPr lang="en-US" sz="1500" dirty="0"/>
          </a:p>
        </p:txBody>
      </p:sp>
      <p:sp>
        <p:nvSpPr>
          <p:cNvPr id="15" name="Text 13"/>
          <p:cNvSpPr/>
          <p:nvPr/>
        </p:nvSpPr>
        <p:spPr>
          <a:xfrm>
            <a:off x="713232" y="5166360"/>
            <a:ext cx="10561320" cy="548640"/>
          </a:xfrm>
          <a:prstGeom prst="rect">
            <a:avLst/>
          </a:prstGeom>
          <a:noFill/>
          <a:ln/>
        </p:spPr>
        <p:txBody>
          <a:bodyPr wrap="square" lIns="0" tIns="0" rIns="0" bIns="0" rtlCol="0" anchor="ctr"/>
          <a:lstStyle/>
          <a:p>
            <a:pPr marL="0" indent="0" algn="ctr">
              <a:buNone/>
            </a:pPr>
            <a:r>
              <a:rPr lang="en-US" sz="1700" dirty="0">
                <a:solidFill>
                  <a:srgbClr val="334155"/>
                </a:solidFill>
                <a:latin typeface="Aptos" pitchFamily="34" charset="0"/>
                <a:ea typeface="Aptos" pitchFamily="34" charset="-122"/>
                <a:cs typeface="Aptos" pitchFamily="34" charset="-120"/>
              </a:rPr>
              <a:t>FR1 to FR7 together describe a full end-to-end workflow: question → interpretation → dataset selection → query generation → retrieval → result display → request logging.</a:t>
            </a:r>
            <a:endParaRPr lang="en-US" sz="1700" dirty="0"/>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658368"/>
            <a:ext cx="658368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Non-functional requirements</a:t>
            </a:r>
            <a:endParaRPr lang="en-US" sz="2800" dirty="0"/>
          </a:p>
        </p:txBody>
      </p:sp>
      <p:sp>
        <p:nvSpPr>
          <p:cNvPr id="3" name="Text 1"/>
          <p:cNvSpPr/>
          <p:nvPr/>
        </p:nvSpPr>
        <p:spPr>
          <a:xfrm>
            <a:off x="612648" y="1216152"/>
            <a:ext cx="7863840" cy="329184"/>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Quality expectations for the MVP.</a:t>
            </a:r>
            <a:endParaRPr lang="en-US" sz="1500" dirty="0"/>
          </a:p>
        </p:txBody>
      </p:sp>
      <p:sp>
        <p:nvSpPr>
          <p:cNvPr id="4" name="Text 2"/>
          <p:cNvSpPr/>
          <p:nvPr/>
        </p:nvSpPr>
        <p:spPr>
          <a:xfrm>
            <a:off x="685800" y="2331720"/>
            <a:ext cx="1920240" cy="329184"/>
          </a:xfrm>
          <a:prstGeom prst="rect">
            <a:avLst/>
          </a:prstGeom>
          <a:noFill/>
          <a:ln/>
        </p:spPr>
        <p:txBody>
          <a:bodyPr wrap="square" lIns="0" tIns="0" rIns="0" bIns="0" rtlCol="0" anchor="ctr"/>
          <a:lstStyle/>
          <a:p>
            <a:pPr marL="0" indent="0" algn="ctr">
              <a:buNone/>
            </a:pPr>
            <a:r>
              <a:rPr lang="en-US" sz="2100" b="1" dirty="0">
                <a:solidFill>
                  <a:srgbClr val="0F172A"/>
                </a:solidFill>
                <a:latin typeface="Aptos Display" pitchFamily="34" charset="0"/>
                <a:ea typeface="Aptos Display" pitchFamily="34" charset="-122"/>
                <a:cs typeface="Aptos Display" pitchFamily="34" charset="-120"/>
              </a:rPr>
              <a:t>Fast</a:t>
            </a:r>
            <a:endParaRPr lang="en-US" sz="2100" dirty="0"/>
          </a:p>
        </p:txBody>
      </p:sp>
      <p:sp>
        <p:nvSpPr>
          <p:cNvPr id="5" name="Text 3"/>
          <p:cNvSpPr/>
          <p:nvPr/>
        </p:nvSpPr>
        <p:spPr>
          <a:xfrm>
            <a:off x="758952" y="2788920"/>
            <a:ext cx="1773936" cy="658368"/>
          </a:xfrm>
          <a:prstGeom prst="rect">
            <a:avLst/>
          </a:prstGeom>
          <a:noFill/>
          <a:ln/>
        </p:spPr>
        <p:txBody>
          <a:bodyPr wrap="square" lIns="0" tIns="0" rIns="0" bIns="0" rtlCol="0" anchor="ctr"/>
          <a:lstStyle/>
          <a:p>
            <a:pPr marL="0" indent="0" algn="ctr">
              <a:buNone/>
            </a:pPr>
            <a:r>
              <a:rPr lang="en-US" sz="1550" dirty="0">
                <a:solidFill>
                  <a:srgbClr val="334155"/>
                </a:solidFill>
                <a:latin typeface="Aptos" pitchFamily="34" charset="0"/>
                <a:ea typeface="Aptos" pitchFamily="34" charset="-122"/>
                <a:cs typeface="Aptos" pitchFamily="34" charset="-120"/>
              </a:rPr>
              <a:t> Question to answer in under a minute</a:t>
            </a:r>
            <a:endParaRPr lang="en-US" sz="1550" dirty="0"/>
          </a:p>
        </p:txBody>
      </p:sp>
      <p:sp>
        <p:nvSpPr>
          <p:cNvPr id="6" name="Shape 4"/>
          <p:cNvSpPr/>
          <p:nvPr/>
        </p:nvSpPr>
        <p:spPr>
          <a:xfrm>
            <a:off x="2679192" y="2395728"/>
            <a:ext cx="0" cy="1097280"/>
          </a:xfrm>
          <a:prstGeom prst="line">
            <a:avLst/>
          </a:prstGeom>
          <a:noFill/>
          <a:ln w="12700">
            <a:solidFill>
              <a:srgbClr val="CBD5E1"/>
            </a:solidFill>
            <a:prstDash val="solid"/>
          </a:ln>
        </p:spPr>
        <p:txBody>
          <a:bodyPr/>
          <a:lstStyle/>
          <a:p>
            <a:endParaRPr lang="en-US"/>
          </a:p>
        </p:txBody>
      </p:sp>
      <p:sp>
        <p:nvSpPr>
          <p:cNvPr id="7" name="Text 5"/>
          <p:cNvSpPr/>
          <p:nvPr/>
        </p:nvSpPr>
        <p:spPr>
          <a:xfrm>
            <a:off x="2926080" y="2331720"/>
            <a:ext cx="1920240" cy="329184"/>
          </a:xfrm>
          <a:prstGeom prst="rect">
            <a:avLst/>
          </a:prstGeom>
          <a:noFill/>
          <a:ln/>
        </p:spPr>
        <p:txBody>
          <a:bodyPr wrap="square" lIns="0" tIns="0" rIns="0" bIns="0" rtlCol="0" anchor="ctr"/>
          <a:lstStyle/>
          <a:p>
            <a:pPr marL="0" indent="0" algn="ctr">
              <a:buNone/>
            </a:pPr>
            <a:r>
              <a:rPr lang="en-US" sz="2100" b="1" dirty="0">
                <a:solidFill>
                  <a:srgbClr val="0F172A"/>
                </a:solidFill>
                <a:latin typeface="Aptos Display" pitchFamily="34" charset="0"/>
                <a:ea typeface="Aptos Display" pitchFamily="34" charset="-122"/>
                <a:cs typeface="Aptos Display" pitchFamily="34" charset="-120"/>
              </a:rPr>
              <a:t>Easy</a:t>
            </a:r>
            <a:endParaRPr lang="en-US" sz="2100" dirty="0"/>
          </a:p>
        </p:txBody>
      </p:sp>
      <p:sp>
        <p:nvSpPr>
          <p:cNvPr id="8" name="Text 6"/>
          <p:cNvSpPr/>
          <p:nvPr/>
        </p:nvSpPr>
        <p:spPr>
          <a:xfrm>
            <a:off x="2999232" y="2788920"/>
            <a:ext cx="1773936" cy="658368"/>
          </a:xfrm>
          <a:prstGeom prst="rect">
            <a:avLst/>
          </a:prstGeom>
          <a:noFill/>
          <a:ln/>
        </p:spPr>
        <p:txBody>
          <a:bodyPr wrap="square" lIns="0" tIns="0" rIns="0" bIns="0" rtlCol="0" anchor="ctr"/>
          <a:lstStyle/>
          <a:p>
            <a:pPr marL="0" indent="0" algn="ctr">
              <a:buNone/>
            </a:pPr>
            <a:r>
              <a:rPr lang="en-US" sz="1550" dirty="0">
                <a:solidFill>
                  <a:srgbClr val="334155"/>
                </a:solidFill>
                <a:latin typeface="Aptos" pitchFamily="34" charset="0"/>
              </a:rPr>
              <a:t>Usable from people without database knowledge</a:t>
            </a:r>
            <a:endParaRPr lang="en-US" sz="1550" dirty="0"/>
          </a:p>
        </p:txBody>
      </p:sp>
      <p:sp>
        <p:nvSpPr>
          <p:cNvPr id="9" name="Shape 7"/>
          <p:cNvSpPr/>
          <p:nvPr/>
        </p:nvSpPr>
        <p:spPr>
          <a:xfrm>
            <a:off x="4919472" y="2395728"/>
            <a:ext cx="0" cy="1097280"/>
          </a:xfrm>
          <a:prstGeom prst="line">
            <a:avLst/>
          </a:prstGeom>
          <a:noFill/>
          <a:ln w="12700">
            <a:solidFill>
              <a:srgbClr val="CBD5E1"/>
            </a:solidFill>
            <a:prstDash val="solid"/>
          </a:ln>
        </p:spPr>
        <p:txBody>
          <a:bodyPr/>
          <a:lstStyle/>
          <a:p>
            <a:endParaRPr lang="en-US"/>
          </a:p>
        </p:txBody>
      </p:sp>
      <p:sp>
        <p:nvSpPr>
          <p:cNvPr id="10" name="Text 8"/>
          <p:cNvSpPr/>
          <p:nvPr/>
        </p:nvSpPr>
        <p:spPr>
          <a:xfrm>
            <a:off x="5166360" y="2331720"/>
            <a:ext cx="1920240" cy="329184"/>
          </a:xfrm>
          <a:prstGeom prst="rect">
            <a:avLst/>
          </a:prstGeom>
          <a:noFill/>
          <a:ln/>
        </p:spPr>
        <p:txBody>
          <a:bodyPr wrap="square" lIns="0" tIns="0" rIns="0" bIns="0" rtlCol="0" anchor="ctr"/>
          <a:lstStyle/>
          <a:p>
            <a:pPr marL="0" indent="0" algn="ctr">
              <a:buNone/>
            </a:pPr>
            <a:r>
              <a:rPr lang="en-US" sz="2100" b="1" dirty="0">
                <a:solidFill>
                  <a:srgbClr val="0F172A"/>
                </a:solidFill>
                <a:latin typeface="Aptos Display" pitchFamily="34" charset="0"/>
                <a:ea typeface="Aptos Display" pitchFamily="34" charset="-122"/>
                <a:cs typeface="Aptos Display" pitchFamily="34" charset="-120"/>
              </a:rPr>
              <a:t>Secure</a:t>
            </a:r>
            <a:endParaRPr lang="en-US" sz="2100" dirty="0"/>
          </a:p>
        </p:txBody>
      </p:sp>
      <p:sp>
        <p:nvSpPr>
          <p:cNvPr id="11" name="Text 9"/>
          <p:cNvSpPr/>
          <p:nvPr/>
        </p:nvSpPr>
        <p:spPr>
          <a:xfrm>
            <a:off x="5239512" y="2788920"/>
            <a:ext cx="1773936" cy="658368"/>
          </a:xfrm>
          <a:prstGeom prst="rect">
            <a:avLst/>
          </a:prstGeom>
          <a:noFill/>
          <a:ln/>
        </p:spPr>
        <p:txBody>
          <a:bodyPr wrap="square" lIns="0" tIns="0" rIns="0" bIns="0" rtlCol="0" anchor="ctr"/>
          <a:lstStyle/>
          <a:p>
            <a:pPr marL="0" indent="0" algn="ctr">
              <a:buNone/>
            </a:pPr>
            <a:r>
              <a:rPr lang="en-US" sz="1550" dirty="0">
                <a:solidFill>
                  <a:srgbClr val="334155"/>
                </a:solidFill>
                <a:latin typeface="Aptos" pitchFamily="34" charset="0"/>
                <a:ea typeface="Aptos" pitchFamily="34" charset="-122"/>
                <a:cs typeface="Aptos" pitchFamily="34" charset="-120"/>
              </a:rPr>
              <a:t>Prevent unauthorized database access</a:t>
            </a:r>
            <a:endParaRPr lang="en-US" sz="1550" dirty="0"/>
          </a:p>
        </p:txBody>
      </p:sp>
      <p:sp>
        <p:nvSpPr>
          <p:cNvPr id="12" name="Shape 10"/>
          <p:cNvSpPr/>
          <p:nvPr/>
        </p:nvSpPr>
        <p:spPr>
          <a:xfrm>
            <a:off x="7159752" y="2395728"/>
            <a:ext cx="0" cy="1097280"/>
          </a:xfrm>
          <a:prstGeom prst="line">
            <a:avLst/>
          </a:prstGeom>
          <a:noFill/>
          <a:ln w="12700">
            <a:solidFill>
              <a:srgbClr val="CBD5E1"/>
            </a:solidFill>
            <a:prstDash val="solid"/>
          </a:ln>
        </p:spPr>
        <p:txBody>
          <a:bodyPr/>
          <a:lstStyle/>
          <a:p>
            <a:endParaRPr lang="en-US"/>
          </a:p>
        </p:txBody>
      </p:sp>
      <p:sp>
        <p:nvSpPr>
          <p:cNvPr id="13" name="Text 11"/>
          <p:cNvSpPr/>
          <p:nvPr/>
        </p:nvSpPr>
        <p:spPr>
          <a:xfrm>
            <a:off x="7406640" y="2331720"/>
            <a:ext cx="1920240" cy="329184"/>
          </a:xfrm>
          <a:prstGeom prst="rect">
            <a:avLst/>
          </a:prstGeom>
          <a:noFill/>
          <a:ln/>
        </p:spPr>
        <p:txBody>
          <a:bodyPr wrap="square" lIns="0" tIns="0" rIns="0" bIns="0" rtlCol="0" anchor="ctr"/>
          <a:lstStyle/>
          <a:p>
            <a:pPr marL="0" indent="0" algn="ctr">
              <a:buNone/>
            </a:pPr>
            <a:r>
              <a:rPr lang="en-US" sz="2100" b="1" dirty="0">
                <a:solidFill>
                  <a:srgbClr val="0F172A"/>
                </a:solidFill>
                <a:latin typeface="Aptos Display" pitchFamily="34" charset="0"/>
                <a:ea typeface="Aptos Display" pitchFamily="34" charset="-122"/>
                <a:cs typeface="Aptos Display" pitchFamily="34" charset="-120"/>
              </a:rPr>
              <a:t>Modular</a:t>
            </a:r>
            <a:endParaRPr lang="en-US" sz="2100" dirty="0"/>
          </a:p>
        </p:txBody>
      </p:sp>
      <p:sp>
        <p:nvSpPr>
          <p:cNvPr id="14" name="Text 12"/>
          <p:cNvSpPr/>
          <p:nvPr/>
        </p:nvSpPr>
        <p:spPr>
          <a:xfrm>
            <a:off x="7479792" y="2788920"/>
            <a:ext cx="1773936" cy="658368"/>
          </a:xfrm>
          <a:prstGeom prst="rect">
            <a:avLst/>
          </a:prstGeom>
          <a:noFill/>
          <a:ln/>
        </p:spPr>
        <p:txBody>
          <a:bodyPr wrap="square" lIns="0" tIns="0" rIns="0" bIns="0" rtlCol="0" anchor="ctr"/>
          <a:lstStyle/>
          <a:p>
            <a:pPr marL="0" indent="0" algn="ctr">
              <a:buNone/>
            </a:pPr>
            <a:r>
              <a:rPr lang="en-US" sz="1550" dirty="0"/>
              <a:t>Extendable and maintainable</a:t>
            </a:r>
          </a:p>
        </p:txBody>
      </p:sp>
      <p:sp>
        <p:nvSpPr>
          <p:cNvPr id="15" name="Shape 13"/>
          <p:cNvSpPr/>
          <p:nvPr/>
        </p:nvSpPr>
        <p:spPr>
          <a:xfrm>
            <a:off x="9400032" y="2395728"/>
            <a:ext cx="0" cy="1097280"/>
          </a:xfrm>
          <a:prstGeom prst="line">
            <a:avLst/>
          </a:prstGeom>
          <a:noFill/>
          <a:ln w="12700">
            <a:solidFill>
              <a:srgbClr val="CBD5E1"/>
            </a:solidFill>
            <a:prstDash val="solid"/>
          </a:ln>
        </p:spPr>
        <p:txBody>
          <a:bodyPr/>
          <a:lstStyle/>
          <a:p>
            <a:endParaRPr lang="en-US"/>
          </a:p>
        </p:txBody>
      </p:sp>
      <p:sp>
        <p:nvSpPr>
          <p:cNvPr id="16" name="Text 14"/>
          <p:cNvSpPr/>
          <p:nvPr/>
        </p:nvSpPr>
        <p:spPr>
          <a:xfrm>
            <a:off x="9646920" y="2331720"/>
            <a:ext cx="1920240" cy="329184"/>
          </a:xfrm>
          <a:prstGeom prst="rect">
            <a:avLst/>
          </a:prstGeom>
          <a:noFill/>
          <a:ln/>
        </p:spPr>
        <p:txBody>
          <a:bodyPr wrap="square" lIns="0" tIns="0" rIns="0" bIns="0" rtlCol="0" anchor="ctr"/>
          <a:lstStyle/>
          <a:p>
            <a:pPr marL="0" indent="0" algn="ctr">
              <a:buNone/>
            </a:pPr>
            <a:r>
              <a:rPr lang="en-US" sz="2100" b="1" dirty="0">
                <a:solidFill>
                  <a:srgbClr val="0F172A"/>
                </a:solidFill>
                <a:latin typeface="Aptos Display" pitchFamily="34" charset="0"/>
                <a:ea typeface="Aptos Display" pitchFamily="34" charset="-122"/>
                <a:cs typeface="Aptos Display" pitchFamily="34" charset="-120"/>
              </a:rPr>
              <a:t>Scalable</a:t>
            </a:r>
            <a:endParaRPr lang="en-US" sz="2100" dirty="0"/>
          </a:p>
        </p:txBody>
      </p:sp>
      <p:sp>
        <p:nvSpPr>
          <p:cNvPr id="17" name="Text 15"/>
          <p:cNvSpPr/>
          <p:nvPr/>
        </p:nvSpPr>
        <p:spPr>
          <a:xfrm>
            <a:off x="9720072" y="2788920"/>
            <a:ext cx="1773936" cy="658368"/>
          </a:xfrm>
          <a:prstGeom prst="rect">
            <a:avLst/>
          </a:prstGeom>
          <a:noFill/>
          <a:ln/>
        </p:spPr>
        <p:txBody>
          <a:bodyPr wrap="square" lIns="0" tIns="0" rIns="0" bIns="0" rtlCol="0" anchor="ctr"/>
          <a:lstStyle/>
          <a:p>
            <a:pPr marL="0" indent="0" algn="ctr">
              <a:buNone/>
            </a:pPr>
            <a:r>
              <a:rPr lang="en-US" sz="1550" dirty="0"/>
              <a:t>Able to work with different datasets based on clients needs</a:t>
            </a:r>
          </a:p>
        </p:txBody>
      </p:sp>
      <p:sp>
        <p:nvSpPr>
          <p:cNvPr id="18" name="Text 16"/>
          <p:cNvSpPr/>
          <p:nvPr/>
        </p:nvSpPr>
        <p:spPr>
          <a:xfrm>
            <a:off x="1143000" y="5120640"/>
            <a:ext cx="9875520" cy="411480"/>
          </a:xfrm>
          <a:prstGeom prst="rect">
            <a:avLst/>
          </a:prstGeom>
          <a:noFill/>
          <a:ln/>
        </p:spPr>
        <p:txBody>
          <a:bodyPr wrap="square" lIns="0" tIns="0" rIns="0" bIns="0" rtlCol="0" anchor="ctr"/>
          <a:lstStyle/>
          <a:p>
            <a:pPr marL="0" indent="0" algn="ctr">
              <a:buNone/>
            </a:pPr>
            <a:r>
              <a:rPr lang="en-US" sz="1650" i="1" dirty="0">
                <a:solidFill>
                  <a:srgbClr val="0F766E"/>
                </a:solidFill>
                <a:latin typeface="Aptos" pitchFamily="34" charset="0"/>
                <a:ea typeface="Aptos" pitchFamily="34" charset="-122"/>
                <a:cs typeface="Aptos" pitchFamily="34" charset="-120"/>
              </a:rPr>
              <a:t>Constraint for this phase: it is an MVP prototype, so the focus is a working flow rather than perfect AI accuracy.</a:t>
            </a:r>
            <a:endParaRPr lang="en-US" sz="1650" dirty="0"/>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658368"/>
            <a:ext cx="658368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we have done so far</a:t>
            </a:r>
            <a:endParaRPr lang="en-US" sz="2800" dirty="0"/>
          </a:p>
        </p:txBody>
      </p:sp>
      <p:sp>
        <p:nvSpPr>
          <p:cNvPr id="3" name="Text 1"/>
          <p:cNvSpPr/>
          <p:nvPr/>
        </p:nvSpPr>
        <p:spPr>
          <a:xfrm>
            <a:off x="612648" y="1216152"/>
            <a:ext cx="7863840" cy="329184"/>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This slide reflects documented progress and project setup so far.</a:t>
            </a:r>
            <a:endParaRPr lang="en-US" sz="1500" dirty="0"/>
          </a:p>
        </p:txBody>
      </p:sp>
      <p:sp>
        <p:nvSpPr>
          <p:cNvPr id="4" name="Text 2"/>
          <p:cNvSpPr/>
          <p:nvPr/>
        </p:nvSpPr>
        <p:spPr>
          <a:xfrm>
            <a:off x="713232" y="1965960"/>
            <a:ext cx="146304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DEFINED</a:t>
            </a:r>
            <a:endParaRPr lang="en-US" sz="900" dirty="0"/>
          </a:p>
        </p:txBody>
      </p:sp>
      <p:sp>
        <p:nvSpPr>
          <p:cNvPr id="5" name="Text 3"/>
          <p:cNvSpPr/>
          <p:nvPr/>
        </p:nvSpPr>
        <p:spPr>
          <a:xfrm>
            <a:off x="713232" y="2240280"/>
            <a:ext cx="4206240" cy="274320"/>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Problem and MVP goal</a:t>
            </a:r>
            <a:endParaRPr lang="en-US" sz="2200" dirty="0"/>
          </a:p>
        </p:txBody>
      </p:sp>
      <p:sp>
        <p:nvSpPr>
          <p:cNvPr id="6" name="Text 4"/>
          <p:cNvSpPr/>
          <p:nvPr/>
        </p:nvSpPr>
        <p:spPr>
          <a:xfrm>
            <a:off x="713232" y="2606040"/>
            <a:ext cx="4434840" cy="731520"/>
          </a:xfrm>
          <a:prstGeom prst="rect">
            <a:avLst/>
          </a:prstGeom>
          <a:noFill/>
          <a:ln/>
        </p:spPr>
        <p:txBody>
          <a:bodyPr wrap="square" lIns="0" tIns="0" rIns="0" bIns="0" rtlCol="0" anchor="ctr"/>
          <a:lstStyle/>
          <a:p>
            <a:pPr marL="0" indent="0">
              <a:buNone/>
            </a:pPr>
            <a:r>
              <a:rPr lang="en-US" sz="1700" dirty="0">
                <a:solidFill>
                  <a:srgbClr val="334155"/>
                </a:solidFill>
                <a:latin typeface="Aptos" pitchFamily="34" charset="0"/>
                <a:ea typeface="Aptos" pitchFamily="34" charset="-122"/>
                <a:cs typeface="Aptos" pitchFamily="34" charset="-120"/>
              </a:rPr>
              <a:t>The project problem, the user need, and the end-to-end MVP workflow are already clearly documented.</a:t>
            </a:r>
            <a:endParaRPr lang="en-US" sz="1700" dirty="0"/>
          </a:p>
        </p:txBody>
      </p:sp>
      <p:sp>
        <p:nvSpPr>
          <p:cNvPr id="7" name="Text 5"/>
          <p:cNvSpPr/>
          <p:nvPr/>
        </p:nvSpPr>
        <p:spPr>
          <a:xfrm>
            <a:off x="6126480" y="1965960"/>
            <a:ext cx="164592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CAPTURED</a:t>
            </a:r>
            <a:endParaRPr lang="en-US" sz="900" dirty="0"/>
          </a:p>
        </p:txBody>
      </p:sp>
      <p:sp>
        <p:nvSpPr>
          <p:cNvPr id="8" name="Text 6"/>
          <p:cNvSpPr/>
          <p:nvPr/>
        </p:nvSpPr>
        <p:spPr>
          <a:xfrm>
            <a:off x="6126480" y="2240280"/>
            <a:ext cx="4206240" cy="274320"/>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Requirements and scope</a:t>
            </a:r>
            <a:endParaRPr lang="en-US" sz="2200" dirty="0"/>
          </a:p>
        </p:txBody>
      </p:sp>
      <p:sp>
        <p:nvSpPr>
          <p:cNvPr id="9" name="Text 7"/>
          <p:cNvSpPr/>
          <p:nvPr/>
        </p:nvSpPr>
        <p:spPr>
          <a:xfrm>
            <a:off x="6126480" y="2606040"/>
            <a:ext cx="4480560" cy="822960"/>
          </a:xfrm>
          <a:prstGeom prst="rect">
            <a:avLst/>
          </a:prstGeom>
          <a:noFill/>
          <a:ln/>
        </p:spPr>
        <p:txBody>
          <a:bodyPr wrap="square" lIns="0" tIns="0" rIns="0" bIns="0" rtlCol="0" anchor="ctr"/>
          <a:lstStyle/>
          <a:p>
            <a:pPr marL="0" indent="0">
              <a:buNone/>
            </a:pPr>
            <a:r>
              <a:rPr lang="en-US" sz="1700" dirty="0">
                <a:solidFill>
                  <a:srgbClr val="334155"/>
                </a:solidFill>
                <a:latin typeface="Aptos" pitchFamily="34" charset="0"/>
                <a:ea typeface="Aptos" pitchFamily="34" charset="-122"/>
                <a:cs typeface="Aptos" pitchFamily="34" charset="-120"/>
              </a:rPr>
              <a:t>User requirements, functional requirements, non-functional requirements, scope, assumptions, and acceptance criteria are defined.</a:t>
            </a:r>
            <a:endParaRPr lang="en-US" sz="1700" dirty="0"/>
          </a:p>
        </p:txBody>
      </p:sp>
      <p:sp>
        <p:nvSpPr>
          <p:cNvPr id="10" name="Text 8"/>
          <p:cNvSpPr/>
          <p:nvPr/>
        </p:nvSpPr>
        <p:spPr>
          <a:xfrm>
            <a:off x="713232" y="4160520"/>
            <a:ext cx="164592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ORGANIZED</a:t>
            </a:r>
            <a:endParaRPr lang="en-US" sz="900" dirty="0"/>
          </a:p>
        </p:txBody>
      </p:sp>
      <p:sp>
        <p:nvSpPr>
          <p:cNvPr id="11" name="Text 9"/>
          <p:cNvSpPr/>
          <p:nvPr/>
        </p:nvSpPr>
        <p:spPr>
          <a:xfrm>
            <a:off x="713232" y="4434840"/>
            <a:ext cx="4206240" cy="274320"/>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Deliverables and flow</a:t>
            </a:r>
            <a:endParaRPr lang="en-US" sz="2200" dirty="0"/>
          </a:p>
        </p:txBody>
      </p:sp>
      <p:sp>
        <p:nvSpPr>
          <p:cNvPr id="12" name="Text 10"/>
          <p:cNvSpPr/>
          <p:nvPr/>
        </p:nvSpPr>
        <p:spPr>
          <a:xfrm>
            <a:off x="713232" y="4800600"/>
            <a:ext cx="4434840" cy="822960"/>
          </a:xfrm>
          <a:prstGeom prst="rect">
            <a:avLst/>
          </a:prstGeom>
          <a:noFill/>
          <a:ln/>
        </p:spPr>
        <p:txBody>
          <a:bodyPr wrap="square" lIns="0" tIns="0" rIns="0" bIns="0" rtlCol="0" anchor="ctr"/>
          <a:lstStyle/>
          <a:p>
            <a:pPr marL="0" indent="0">
              <a:buNone/>
            </a:pPr>
            <a:r>
              <a:rPr lang="en-US" sz="1700" dirty="0">
                <a:solidFill>
                  <a:srgbClr val="334155"/>
                </a:solidFill>
                <a:latin typeface="Aptos" pitchFamily="34" charset="0"/>
                <a:ea typeface="Aptos" pitchFamily="34" charset="-122"/>
                <a:cs typeface="Aptos" pitchFamily="34" charset="-120"/>
              </a:rPr>
              <a:t>The expected MVP deliverables already include the working flow, architecture explanation, demo, logging, and usage insights.</a:t>
            </a:r>
            <a:endParaRPr lang="en-US" sz="1700" dirty="0"/>
          </a:p>
        </p:txBody>
      </p:sp>
      <p:sp>
        <p:nvSpPr>
          <p:cNvPr id="13" name="Text 11"/>
          <p:cNvSpPr/>
          <p:nvPr/>
        </p:nvSpPr>
        <p:spPr>
          <a:xfrm>
            <a:off x="6126480" y="4160520"/>
            <a:ext cx="1645920" cy="164592"/>
          </a:xfrm>
          <a:prstGeom prst="rect">
            <a:avLst/>
          </a:prstGeom>
          <a:noFill/>
          <a:ln/>
        </p:spPr>
        <p:txBody>
          <a:bodyPr wrap="square" lIns="0" tIns="0" rIns="0" bIns="0" rtlCol="0" anchor="ctr"/>
          <a:lstStyle/>
          <a:p>
            <a:pPr marL="0" indent="0">
              <a:buNone/>
            </a:pPr>
            <a:r>
              <a:rPr lang="en-US" sz="900" b="1" dirty="0">
                <a:solidFill>
                  <a:srgbClr val="0F766E"/>
                </a:solidFill>
                <a:latin typeface="Aptos" pitchFamily="34" charset="0"/>
                <a:ea typeface="Aptos" pitchFamily="34" charset="-122"/>
                <a:cs typeface="Aptos" pitchFamily="34" charset="-120"/>
              </a:rPr>
              <a:t>ALIGNED</a:t>
            </a:r>
            <a:endParaRPr lang="en-US" sz="900" dirty="0"/>
          </a:p>
        </p:txBody>
      </p:sp>
      <p:sp>
        <p:nvSpPr>
          <p:cNvPr id="14" name="Text 12"/>
          <p:cNvSpPr/>
          <p:nvPr/>
        </p:nvSpPr>
        <p:spPr>
          <a:xfrm>
            <a:off x="6126480" y="4434840"/>
            <a:ext cx="4206240" cy="274320"/>
          </a:xfrm>
          <a:prstGeom prst="rect">
            <a:avLst/>
          </a:prstGeom>
          <a:noFill/>
          <a:ln/>
        </p:spPr>
        <p:txBody>
          <a:bodyPr wrap="square" lIns="0" tIns="0" rIns="0" bIns="0" rtlCol="0" anchor="ctr"/>
          <a:lstStyle/>
          <a:p>
            <a:pPr marL="0" indent="0">
              <a:buNone/>
            </a:pPr>
            <a:r>
              <a:rPr lang="en-US" sz="2200" b="1" dirty="0">
                <a:solidFill>
                  <a:srgbClr val="0F172A"/>
                </a:solidFill>
                <a:latin typeface="Aptos Display" pitchFamily="34" charset="0"/>
                <a:ea typeface="Aptos Display" pitchFamily="34" charset="-122"/>
                <a:cs typeface="Aptos Display" pitchFamily="34" charset="-120"/>
              </a:rPr>
              <a:t>Team working rhythm</a:t>
            </a:r>
            <a:endParaRPr lang="en-US" sz="2200" dirty="0"/>
          </a:p>
        </p:txBody>
      </p:sp>
      <p:sp>
        <p:nvSpPr>
          <p:cNvPr id="15" name="Text 13"/>
          <p:cNvSpPr/>
          <p:nvPr/>
        </p:nvSpPr>
        <p:spPr>
          <a:xfrm>
            <a:off x="6126480" y="4800600"/>
            <a:ext cx="4480560" cy="822960"/>
          </a:xfrm>
          <a:prstGeom prst="rect">
            <a:avLst/>
          </a:prstGeom>
          <a:noFill/>
          <a:ln/>
        </p:spPr>
        <p:txBody>
          <a:bodyPr wrap="square" lIns="0" tIns="0" rIns="0" bIns="0" rtlCol="0" anchor="ctr"/>
          <a:lstStyle/>
          <a:p>
            <a:pPr marL="0" indent="0">
              <a:buNone/>
            </a:pPr>
            <a:r>
              <a:rPr lang="en-US" sz="1700" dirty="0">
                <a:solidFill>
                  <a:srgbClr val="334155"/>
                </a:solidFill>
                <a:latin typeface="Aptos" pitchFamily="34" charset="0"/>
                <a:ea typeface="Aptos" pitchFamily="34" charset="-122"/>
                <a:cs typeface="Aptos" pitchFamily="34" charset="-120"/>
              </a:rPr>
              <a:t>The group has a working agreement with weekly stand-ups, sprint retrospectives, and mandatory attendance for key meetings.</a:t>
            </a:r>
            <a:endParaRPr lang="en-US" sz="1700" dirty="0"/>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658368"/>
            <a:ext cx="658368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Next iteration deliverables</a:t>
            </a:r>
            <a:endParaRPr lang="en-US" sz="2800" dirty="0"/>
          </a:p>
        </p:txBody>
      </p:sp>
      <p:sp>
        <p:nvSpPr>
          <p:cNvPr id="3" name="Text 1"/>
          <p:cNvSpPr/>
          <p:nvPr/>
        </p:nvSpPr>
        <p:spPr>
          <a:xfrm>
            <a:off x="612648" y="1216152"/>
            <a:ext cx="7863840" cy="329184"/>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Planned work based on the current requirements and deliverables.</a:t>
            </a:r>
            <a:endParaRPr lang="en-US" sz="1500" dirty="0"/>
          </a:p>
        </p:txBody>
      </p:sp>
      <p:sp>
        <p:nvSpPr>
          <p:cNvPr id="4" name="Shape 2"/>
          <p:cNvSpPr/>
          <p:nvPr/>
        </p:nvSpPr>
        <p:spPr>
          <a:xfrm>
            <a:off x="822960" y="2112264"/>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5" name="Text 3"/>
          <p:cNvSpPr/>
          <p:nvPr/>
        </p:nvSpPr>
        <p:spPr>
          <a:xfrm>
            <a:off x="1005840" y="2011680"/>
            <a:ext cx="9875520" cy="310896"/>
          </a:xfrm>
          <a:prstGeom prst="rect">
            <a:avLst/>
          </a:prstGeom>
          <a:noFill/>
          <a:ln/>
        </p:spPr>
        <p:txBody>
          <a:bodyPr wrap="square" lIns="0" tIns="0" rIns="0" bIns="0" rtlCol="0" anchor="ctr"/>
          <a:lstStyle/>
          <a:p>
            <a:pPr marL="0" indent="0">
              <a:buNone/>
            </a:pPr>
            <a:r>
              <a:rPr lang="en-US" sz="1900" dirty="0"/>
              <a:t>AI model integration</a:t>
            </a:r>
          </a:p>
        </p:txBody>
      </p:sp>
      <p:sp>
        <p:nvSpPr>
          <p:cNvPr id="6" name="Shape 4"/>
          <p:cNvSpPr/>
          <p:nvPr/>
        </p:nvSpPr>
        <p:spPr>
          <a:xfrm>
            <a:off x="822960" y="2688336"/>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7" name="Text 5"/>
          <p:cNvSpPr/>
          <p:nvPr/>
        </p:nvSpPr>
        <p:spPr>
          <a:xfrm>
            <a:off x="1005840" y="2587752"/>
            <a:ext cx="9875520" cy="310896"/>
          </a:xfrm>
          <a:prstGeom prst="rect">
            <a:avLst/>
          </a:prstGeom>
          <a:noFill/>
          <a:ln/>
        </p:spPr>
        <p:txBody>
          <a:bodyPr wrap="square" lIns="0" tIns="0" rIns="0" bIns="0" rtlCol="0" anchor="ctr"/>
          <a:lstStyle/>
          <a:p>
            <a:pPr marL="0" indent="0">
              <a:buNone/>
            </a:pPr>
            <a:r>
              <a:rPr lang="en-US" sz="1900" dirty="0"/>
              <a:t>Basic user question into database  query conversion</a:t>
            </a:r>
          </a:p>
        </p:txBody>
      </p:sp>
      <p:sp>
        <p:nvSpPr>
          <p:cNvPr id="8" name="Shape 6"/>
          <p:cNvSpPr/>
          <p:nvPr/>
        </p:nvSpPr>
        <p:spPr>
          <a:xfrm>
            <a:off x="822960" y="3264408"/>
            <a:ext cx="100584" cy="100584"/>
          </a:xfrm>
          <a:prstGeom prst="ellipse">
            <a:avLst/>
          </a:prstGeom>
          <a:solidFill>
            <a:srgbClr val="0F766E"/>
          </a:solidFill>
          <a:ln w="12700">
            <a:solidFill>
              <a:srgbClr val="0F766E">
                <a:alpha val="0"/>
              </a:srgbClr>
            </a:solidFill>
            <a:prstDash val="solid"/>
          </a:ln>
        </p:spPr>
        <p:txBody>
          <a:bodyPr/>
          <a:lstStyle/>
          <a:p>
            <a:endParaRPr lang="en-US"/>
          </a:p>
        </p:txBody>
      </p:sp>
      <p:sp>
        <p:nvSpPr>
          <p:cNvPr id="9" name="Text 7"/>
          <p:cNvSpPr/>
          <p:nvPr/>
        </p:nvSpPr>
        <p:spPr>
          <a:xfrm>
            <a:off x="1005840" y="3163824"/>
            <a:ext cx="9875520" cy="310896"/>
          </a:xfrm>
          <a:prstGeom prst="rect">
            <a:avLst/>
          </a:prstGeom>
          <a:noFill/>
          <a:ln/>
        </p:spPr>
        <p:txBody>
          <a:bodyPr wrap="square" lIns="0" tIns="0" rIns="0" bIns="0" rtlCol="0" anchor="ctr"/>
          <a:lstStyle/>
          <a:p>
            <a:pPr marL="0" indent="0">
              <a:buNone/>
            </a:pPr>
            <a:r>
              <a:rPr lang="en-US" sz="1900" dirty="0"/>
              <a:t>Command Input interface(CLI)</a:t>
            </a:r>
          </a:p>
        </p:txBody>
      </p:sp>
      <p:sp>
        <p:nvSpPr>
          <p:cNvPr id="11" name="Text 9"/>
          <p:cNvSpPr/>
          <p:nvPr/>
        </p:nvSpPr>
        <p:spPr>
          <a:xfrm>
            <a:off x="1005840" y="3739896"/>
            <a:ext cx="9875520" cy="310896"/>
          </a:xfrm>
          <a:prstGeom prst="rect">
            <a:avLst/>
          </a:prstGeom>
          <a:noFill/>
          <a:ln/>
        </p:spPr>
        <p:txBody>
          <a:bodyPr wrap="square" lIns="0" tIns="0" rIns="0" bIns="0" rtlCol="0" anchor="ctr"/>
          <a:lstStyle/>
          <a:p>
            <a:pPr marL="0" indent="0">
              <a:buNone/>
            </a:pPr>
            <a:endParaRPr lang="en-US" sz="1900" dirty="0"/>
          </a:p>
        </p:txBody>
      </p:sp>
      <p:sp>
        <p:nvSpPr>
          <p:cNvPr id="13" name="Text 11"/>
          <p:cNvSpPr/>
          <p:nvPr/>
        </p:nvSpPr>
        <p:spPr>
          <a:xfrm>
            <a:off x="1005840" y="4315968"/>
            <a:ext cx="9875520" cy="310896"/>
          </a:xfrm>
          <a:prstGeom prst="rect">
            <a:avLst/>
          </a:prstGeom>
          <a:noFill/>
          <a:ln/>
        </p:spPr>
        <p:txBody>
          <a:bodyPr wrap="square" lIns="0" tIns="0" rIns="0" bIns="0" rtlCol="0" anchor="ctr"/>
          <a:lstStyle/>
          <a:p>
            <a:pPr marL="0" indent="0">
              <a:buNone/>
            </a:pPr>
            <a:endParaRPr lang="en-US" sz="1900" dirty="0"/>
          </a:p>
        </p:txBody>
      </p:sp>
      <p:sp>
        <p:nvSpPr>
          <p:cNvPr id="15" name="Text 13"/>
          <p:cNvSpPr/>
          <p:nvPr/>
        </p:nvSpPr>
        <p:spPr>
          <a:xfrm>
            <a:off x="1005840" y="4892040"/>
            <a:ext cx="9875520" cy="310896"/>
          </a:xfrm>
          <a:prstGeom prst="rect">
            <a:avLst/>
          </a:prstGeom>
          <a:noFill/>
          <a:ln/>
        </p:spPr>
        <p:txBody>
          <a:bodyPr wrap="square" lIns="0" tIns="0" rIns="0" bIns="0" rtlCol="0" anchor="ctr"/>
          <a:lstStyle/>
          <a:p>
            <a:pPr marL="0" indent="0">
              <a:buNone/>
            </a:pPr>
            <a:endParaRPr lang="en-US" sz="1900" dirty="0"/>
          </a:p>
        </p:txBody>
      </p:sp>
      <p:sp>
        <p:nvSpPr>
          <p:cNvPr id="16" name="Text 14"/>
          <p:cNvSpPr/>
          <p:nvPr/>
        </p:nvSpPr>
        <p:spPr>
          <a:xfrm>
            <a:off x="868680" y="5623560"/>
            <a:ext cx="10287000" cy="274320"/>
          </a:xfrm>
          <a:prstGeom prst="rect">
            <a:avLst/>
          </a:prstGeom>
          <a:noFill/>
          <a:ln/>
        </p:spPr>
        <p:txBody>
          <a:bodyPr wrap="square" lIns="0" tIns="0" rIns="0" bIns="0" rtlCol="0" anchor="ctr"/>
          <a:lstStyle/>
          <a:p>
            <a:pPr marL="0" indent="0">
              <a:buNone/>
            </a:pPr>
            <a:r>
              <a:rPr lang="en-US" sz="1700" i="1" dirty="0">
                <a:solidFill>
                  <a:srgbClr val="0F766E"/>
                </a:solidFill>
                <a:latin typeface="Aptos" pitchFamily="34" charset="0"/>
                <a:ea typeface="Aptos" pitchFamily="34" charset="-122"/>
                <a:cs typeface="Aptos" pitchFamily="34" charset="-120"/>
              </a:rPr>
              <a:t>Target outcome: a working MVP that demonstrates the full path from user question to data insight.</a:t>
            </a:r>
            <a:endParaRPr lang="en-US" sz="1700" dirty="0"/>
          </a:p>
        </p:txBody>
      </p:sp>
      <p:sp>
        <p:nvSpPr>
          <p:cNvPr id="25" name="Slide Number Placeholder 0"/>
          <p:cNvSpPr>
            <a:spLocks noGrp="1"/>
          </p:cNvSpPr>
          <p:nvPr>
            <p:ph type="sldNum" sz="quarter" idx="4294967295"/>
          </p:nvPr>
        </p:nvSpPr>
        <p:spPr>
          <a:xfrm>
            <a:off x="11475720" y="6428232"/>
            <a:ext cx="274320" cy="164592"/>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782</TotalTime>
  <Words>1064</Words>
  <Application>Microsoft Macintosh PowerPoint</Application>
  <PresentationFormat>Widescreen</PresentationFormat>
  <Paragraphs>85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Data Request Agent - Requirements and Next Iteration</dc:title>
  <dc:subject>AI Data Request Agent requirements presentation</dc:subject>
  <dc:creator>OpenAI</dc:creator>
  <cp:lastModifiedBy>Ivanova,Anita A.M.</cp:lastModifiedBy>
  <cp:revision>4</cp:revision>
  <dcterms:created xsi:type="dcterms:W3CDTF">2026-03-18T19:39:16Z</dcterms:created>
  <dcterms:modified xsi:type="dcterms:W3CDTF">2026-03-19T21:28:51Z</dcterms:modified>
</cp:coreProperties>
</file>